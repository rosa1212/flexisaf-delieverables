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2" y="1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38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2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09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4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743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41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28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08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15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70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097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56A39-66B5-415F-9CA1-9FD8DED7A0C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EF93C9D-8E1E-4F60-A9C8-A0287A44DF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72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171C-7E06-440D-8F09-5A2A90EE5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INSIGHT AND 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CE212-BC97-4DD9-8AAF-7294383169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GAIDS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41325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4870-7ABF-4B9B-90E0-674A8883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589-6FF8-4FE1-847B-938CE50A7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b="1" dirty="0"/>
              <a:t>Attendance strongly affects academic performance</a:t>
            </a:r>
          </a:p>
          <a:p>
            <a:pPr marL="457200" lvl="1" indent="0">
              <a:buNone/>
            </a:pPr>
            <a:r>
              <a:rPr lang="en-US" dirty="0">
                <a:sym typeface="Wingdings 2" panose="05020102010507070707" pitchFamily="18" charset="2"/>
              </a:rPr>
              <a:t>Students with attendance above 85% consistently achieved higher average scores</a:t>
            </a:r>
          </a:p>
          <a:p>
            <a:pPr marL="457200" lvl="1" indent="0">
              <a:buNone/>
            </a:pPr>
            <a:r>
              <a:rPr lang="en-US" dirty="0">
                <a:sym typeface="Wingdings 2" panose="05020102010507070707" pitchFamily="18" charset="2"/>
              </a:rPr>
              <a:t>Student with low attendance &lt;60% had the highest rate of “Need Improvement “ performance  category</a:t>
            </a:r>
          </a:p>
          <a:p>
            <a:pPr marL="457200" lvl="1" indent="0">
              <a:buNone/>
            </a:pPr>
            <a:r>
              <a:rPr lang="en-US" dirty="0">
                <a:sym typeface="Wingdings 2" panose="05020102010507070707" pitchFamily="18" charset="2"/>
              </a:rPr>
              <a:t>The correlation between attendance and average score is positive and significant</a:t>
            </a:r>
          </a:p>
          <a:p>
            <a:pPr marL="457200" lvl="1" indent="0">
              <a:buNone/>
            </a:pPr>
            <a:r>
              <a:rPr lang="en-US" dirty="0">
                <a:sym typeface="Wingdings 2" panose="05020102010507070707" pitchFamily="18" charset="2"/>
              </a:rPr>
              <a:t>School Engagement is a major predictor of good academic performance</a:t>
            </a:r>
          </a:p>
          <a:p>
            <a:pPr marL="457200" lvl="1" indent="0">
              <a:buNone/>
            </a:pPr>
            <a:endParaRPr lang="en-US" dirty="0">
              <a:sym typeface="Wingdings 2" panose="05020102010507070707" pitchFamily="18" charset="2"/>
            </a:endParaRPr>
          </a:p>
          <a:p>
            <a:pPr marL="457200" lvl="1" indent="0">
              <a:buNone/>
            </a:pPr>
            <a:endParaRPr lang="en-US" dirty="0"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67289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0C59-74C2-4485-9897-059982F39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8B732-A826-493D-B7BF-683B86089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 err="1"/>
              <a:t>Mathematice</a:t>
            </a:r>
            <a:r>
              <a:rPr lang="en-US" b="1" dirty="0"/>
              <a:t> </a:t>
            </a:r>
            <a:r>
              <a:rPr lang="en-US" b="1" dirty="0" err="1"/>
              <a:t>anad</a:t>
            </a:r>
            <a:r>
              <a:rPr lang="en-US" b="1" dirty="0"/>
              <a:t> Physics had the lowest average scores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Mathematics average : 62-65%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Physics average :58-63%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English and Chemistry had higher averages (70%+)</a:t>
            </a:r>
          </a:p>
          <a:p>
            <a:pPr>
              <a:buFont typeface="Wingdings 2" panose="05020102010507070707" pitchFamily="18" charset="2"/>
              <a:buChar char="P"/>
            </a:pPr>
            <a:r>
              <a:rPr lang="en-US" dirty="0">
                <a:sym typeface="Wingdings 2" panose="05020102010507070707" pitchFamily="18" charset="2"/>
              </a:rPr>
              <a:t>More than 40% of students struggled specifically with physics.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STEM subjects show higher difficulty level for most students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18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DB9F-0CAB-428B-BA4D-FBD02CB1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CA2B6-CBCC-4023-B5AB-6776CB37B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High performance are also consistent across subjects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Students who score above 80% in Math usually score higher in other subject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Only a few students are “subject-dependent” (high in English but low in Math)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Strong foundation skills benefit all subjects.</a:t>
            </a:r>
          </a:p>
        </p:txBody>
      </p:sp>
    </p:spTree>
    <p:extLst>
      <p:ext uri="{BB962C8B-B14F-4D97-AF65-F5344CB8AC3E}">
        <p14:creationId xmlns:p14="http://schemas.microsoft.com/office/powerpoint/2010/main" val="361613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1200-EA50-4375-9A8E-9D196337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ADBCB-D09C-49E0-8DA8-D9E49C237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Females students showed slightly better consistency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Female students had a smaller performance gap between their best and worst subjects.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Male students had more extreme swings (very high or very low in Math/Physics)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Gender differences are small but visible in consistency not overall average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73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AFB2-EC5B-4BBA-BD0D-458ED7C1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458D3-543F-4378-8996-3840E2831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ym typeface="Wingdings 2" panose="05020102010507070707" pitchFamily="18" charset="2"/>
              </a:rPr>
              <a:t>20-25% of students fall into the “Excellent” range (3.5 and above)</a:t>
            </a:r>
          </a:p>
          <a:p>
            <a:pPr>
              <a:buFont typeface="Wingdings 2" panose="05020102010507070707" pitchFamily="18" charset="2"/>
              <a:buChar char="P"/>
            </a:pPr>
            <a:r>
              <a:rPr lang="en-US" dirty="0">
                <a:sym typeface="Wingdings 2" panose="05020102010507070707" pitchFamily="18" charset="2"/>
              </a:rPr>
              <a:t>The majority(50-60%) fall into the “Good range” (2.5-3.4).</a:t>
            </a:r>
          </a:p>
          <a:p>
            <a:pPr>
              <a:buFont typeface="Wingdings 2" panose="05020102010507070707" pitchFamily="18" charset="2"/>
              <a:buChar char="P"/>
            </a:pPr>
            <a:r>
              <a:rPr lang="en-US" dirty="0">
                <a:sym typeface="Wingdings 2" panose="05020102010507070707" pitchFamily="18" charset="2"/>
              </a:rPr>
              <a:t>A minority (&lt;15%) fall below the performance threshold (1.5-1.9)</a:t>
            </a:r>
          </a:p>
          <a:p>
            <a:pPr marL="0" indent="0">
              <a:buNone/>
            </a:pPr>
            <a:r>
              <a:rPr lang="en-US" dirty="0">
                <a:sym typeface="Wingdings 2" panose="05020102010507070707" pitchFamily="18" charset="2"/>
              </a:rPr>
              <a:t>Most students are performing at an acceptable level, but a targeted group requires support.</a:t>
            </a:r>
          </a:p>
        </p:txBody>
      </p:sp>
    </p:spTree>
    <p:extLst>
      <p:ext uri="{BB962C8B-B14F-4D97-AF65-F5344CB8AC3E}">
        <p14:creationId xmlns:p14="http://schemas.microsoft.com/office/powerpoint/2010/main" val="2264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320E-1C0E-457D-BDC9-B385589F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1752-3218-4658-8301-4668212AD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Wingdings 2" panose="05020102010507070707" pitchFamily="18" charset="2"/>
              </a:rPr>
              <a:t>Provide targeted support for weak subjects </a:t>
            </a:r>
          </a:p>
          <a:p>
            <a:r>
              <a:rPr lang="en-US" dirty="0">
                <a:sym typeface="Wingdings 2" panose="05020102010507070707" pitchFamily="18" charset="2"/>
              </a:rPr>
              <a:t>Track low attendance students </a:t>
            </a:r>
          </a:p>
          <a:p>
            <a:r>
              <a:rPr lang="en-US" dirty="0">
                <a:sym typeface="Wingdings 2" panose="05020102010507070707" pitchFamily="18" charset="2"/>
              </a:rPr>
              <a:t>Personalized learning Plans</a:t>
            </a:r>
          </a:p>
          <a:p>
            <a:r>
              <a:rPr lang="en-US" dirty="0">
                <a:sym typeface="Wingdings 2" panose="05020102010507070707" pitchFamily="18" charset="2"/>
              </a:rPr>
              <a:t>Reward excellence and improvement</a:t>
            </a:r>
          </a:p>
          <a:p>
            <a:r>
              <a:rPr lang="en-US" dirty="0">
                <a:sym typeface="Wingdings 2" panose="05020102010507070707" pitchFamily="18" charset="2"/>
              </a:rPr>
              <a:t>Use dashboards to </a:t>
            </a:r>
            <a:r>
              <a:rPr lang="en-US">
                <a:sym typeface="Wingdings 2" panose="05020102010507070707" pitchFamily="18" charset="2"/>
              </a:rPr>
              <a:t>monitor progress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4177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55</TotalTime>
  <Words>310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Wingdings 2</vt:lpstr>
      <vt:lpstr>Gallery</vt:lpstr>
      <vt:lpstr>INSIGHT AND RECOMMENDATION</vt:lpstr>
      <vt:lpstr>KEY INSIGHTS</vt:lpstr>
      <vt:lpstr>KEY INSIGHTS</vt:lpstr>
      <vt:lpstr>KEY INSIGHTS</vt:lpstr>
      <vt:lpstr>KEY INSIGHTS</vt:lpstr>
      <vt:lpstr>Key insight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 AND RECOMMENDATION</dc:title>
  <dc:creator>Roseline Ayedun</dc:creator>
  <cp:lastModifiedBy>Roseline Ayedun</cp:lastModifiedBy>
  <cp:revision>6</cp:revision>
  <dcterms:created xsi:type="dcterms:W3CDTF">2025-12-11T08:37:56Z</dcterms:created>
  <dcterms:modified xsi:type="dcterms:W3CDTF">2025-12-11T09:33:34Z</dcterms:modified>
</cp:coreProperties>
</file>